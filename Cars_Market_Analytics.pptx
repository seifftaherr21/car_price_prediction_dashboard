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Listings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F66-4286-BA5C-7300D2DB9DEF}"/>
              </c:ext>
            </c:extLst>
          </c:dPt>
          <c:dPt>
            <c:idx val="1"/>
            <c:invertIfNegative val="0"/>
            <c:bubble3D val="0"/>
            <c:spPr>
              <a:solidFill>
                <a:srgbClr val="0D47A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F66-4286-BA5C-7300D2DB9DEF}"/>
              </c:ext>
            </c:extLst>
          </c:dPt>
          <c:dPt>
            <c:idx val="2"/>
            <c:invertIfNegative val="0"/>
            <c:bubble3D val="0"/>
            <c:spPr>
              <a:solidFill>
                <a:srgbClr val="42A5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F66-4286-BA5C-7300D2DB9DEF}"/>
              </c:ext>
            </c:extLst>
          </c:dPt>
          <c:dPt>
            <c:idx val="3"/>
            <c:invertIfNegative val="0"/>
            <c:bubble3D val="0"/>
            <c:spPr>
              <a:solidFill>
                <a:srgbClr val="1976D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F66-4286-BA5C-7300D2DB9DEF}"/>
              </c:ext>
            </c:extLst>
          </c:dPt>
          <c:dPt>
            <c:idx val="4"/>
            <c:invertIfNegative val="0"/>
            <c:bubble3D val="0"/>
            <c:spPr>
              <a:solidFill>
                <a:srgbClr val="90CAF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F66-4286-BA5C-7300D2DB9DEF}"/>
              </c:ext>
            </c:extLst>
          </c:dPt>
          <c:dPt>
            <c:idx val="5"/>
            <c:invertIfNegative val="0"/>
            <c:bubble3D val="0"/>
            <c:spPr>
              <a:solidFill>
                <a:srgbClr val="0288D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F66-4286-BA5C-7300D2DB9DEF}"/>
              </c:ext>
            </c:extLst>
          </c:dPt>
          <c:dPt>
            <c:idx val="6"/>
            <c:invertIfNegative val="0"/>
            <c:bubble3D val="0"/>
            <c:spPr>
              <a:solidFill>
                <a:srgbClr val="4FC3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F66-4286-BA5C-7300D2DB9DEF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1F66-4286-BA5C-7300D2DB9DEF}"/>
              </c:ext>
            </c:extLst>
          </c:dPt>
          <c:dPt>
            <c:idx val="8"/>
            <c:invertIfNegative val="0"/>
            <c:bubble3D val="0"/>
            <c:spPr>
              <a:solidFill>
                <a:srgbClr val="0D47A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1F66-4286-BA5C-7300D2DB9DEF}"/>
              </c:ext>
            </c:extLst>
          </c:dPt>
          <c:dPt>
            <c:idx val="9"/>
            <c:invertIfNegative val="0"/>
            <c:bubble3D val="0"/>
            <c:spPr>
              <a:solidFill>
                <a:srgbClr val="42A5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1F66-4286-BA5C-7300D2DB9DE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121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BMW</c:v>
                </c:pt>
                <c:pt idx="1">
                  <c:v>Ford</c:v>
                </c:pt>
                <c:pt idx="2">
                  <c:v>Mercedes</c:v>
                </c:pt>
                <c:pt idx="3">
                  <c:v>Chevrolet</c:v>
                </c:pt>
                <c:pt idx="4">
                  <c:v>Audi</c:v>
                </c:pt>
                <c:pt idx="5">
                  <c:v>Porsche</c:v>
                </c:pt>
                <c:pt idx="6">
                  <c:v>Toyota</c:v>
                </c:pt>
                <c:pt idx="7">
                  <c:v>Lexus</c:v>
                </c:pt>
                <c:pt idx="8">
                  <c:v>Jeep</c:v>
                </c:pt>
                <c:pt idx="9">
                  <c:v>Land Rover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7369</c:v>
                </c:pt>
                <c:pt idx="1">
                  <c:v>6706</c:v>
                </c:pt>
                <c:pt idx="2">
                  <c:v>5087</c:v>
                </c:pt>
                <c:pt idx="3">
                  <c:v>4424</c:v>
                </c:pt>
                <c:pt idx="4">
                  <c:v>2922</c:v>
                </c:pt>
                <c:pt idx="5">
                  <c:v>2627</c:v>
                </c:pt>
                <c:pt idx="6">
                  <c:v>2315</c:v>
                </c:pt>
                <c:pt idx="7">
                  <c:v>2257</c:v>
                </c:pt>
                <c:pt idx="8">
                  <c:v>2247</c:v>
                </c:pt>
                <c:pt idx="9">
                  <c:v>1995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1F66-4286-BA5C-7300D2DB9D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 ($)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1D0-41C0-AEC5-83A4B123273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1D0-41C0-AEC5-83A4B123273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C1D0-41C0-AEC5-83A4B1232733}"/>
              </c:ext>
            </c:extLst>
          </c:dPt>
          <c:dPt>
            <c:idx val="3"/>
            <c:invertIfNegative val="0"/>
            <c:bubble3D val="0"/>
            <c:spPr>
              <a:solidFill>
                <a:srgbClr val="42A5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1D0-41C0-AEC5-83A4B1232733}"/>
              </c:ext>
            </c:extLst>
          </c:dPt>
          <c:dPt>
            <c:idx val="4"/>
            <c:invertIfNegative val="0"/>
            <c:bubble3D val="0"/>
            <c:spPr>
              <a:solidFill>
                <a:srgbClr val="42A5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1D0-41C0-AEC5-83A4B1232733}"/>
              </c:ext>
            </c:extLst>
          </c:dPt>
          <c:dPt>
            <c:idx val="5"/>
            <c:invertIfNegative val="0"/>
            <c:bubble3D val="0"/>
            <c:spPr>
              <a:solidFill>
                <a:srgbClr val="42A5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1D0-41C0-AEC5-83A4B1232733}"/>
              </c:ext>
            </c:extLst>
          </c:dPt>
          <c:dPt>
            <c:idx val="6"/>
            <c:invertIfNegative val="0"/>
            <c:bubble3D val="0"/>
            <c:spPr>
              <a:solidFill>
                <a:srgbClr val="90CAF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1D0-41C0-AEC5-83A4B1232733}"/>
              </c:ext>
            </c:extLst>
          </c:dPt>
          <c:dPt>
            <c:idx val="7"/>
            <c:invertIfNegative val="0"/>
            <c:bubble3D val="0"/>
            <c:spPr>
              <a:solidFill>
                <a:srgbClr val="90CAF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C1D0-41C0-AEC5-83A4B1232733}"/>
              </c:ext>
            </c:extLst>
          </c:dPt>
          <c:dPt>
            <c:idx val="8"/>
            <c:invertIfNegative val="0"/>
            <c:bubble3D val="0"/>
            <c:spPr>
              <a:solidFill>
                <a:srgbClr val="90CAF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C1D0-41C0-AEC5-83A4B1232733}"/>
              </c:ext>
            </c:extLst>
          </c:dPt>
          <c:dPt>
            <c:idx val="9"/>
            <c:invertIfNegative val="0"/>
            <c:bubble3D val="0"/>
            <c:spPr>
              <a:solidFill>
                <a:srgbClr val="90CAF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C1D0-41C0-AEC5-83A4B123273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121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Porsche</c:v>
                </c:pt>
                <c:pt idx="1">
                  <c:v>Land Rover</c:v>
                </c:pt>
                <c:pt idx="2">
                  <c:v>Mercedes</c:v>
                </c:pt>
                <c:pt idx="3">
                  <c:v>Chevrolet</c:v>
                </c:pt>
                <c:pt idx="4">
                  <c:v>BMW</c:v>
                </c:pt>
                <c:pt idx="5">
                  <c:v>Ford</c:v>
                </c:pt>
                <c:pt idx="6">
                  <c:v>Audi</c:v>
                </c:pt>
                <c:pt idx="7">
                  <c:v>Jeep</c:v>
                </c:pt>
                <c:pt idx="8">
                  <c:v>Lexus</c:v>
                </c:pt>
                <c:pt idx="9">
                  <c:v>Toyota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63742</c:v>
                </c:pt>
                <c:pt idx="1">
                  <c:v>47714</c:v>
                </c:pt>
                <c:pt idx="2">
                  <c:v>47094</c:v>
                </c:pt>
                <c:pt idx="3">
                  <c:v>44751</c:v>
                </c:pt>
                <c:pt idx="4">
                  <c:v>40276</c:v>
                </c:pt>
                <c:pt idx="5">
                  <c:v>38154</c:v>
                </c:pt>
                <c:pt idx="6">
                  <c:v>37091</c:v>
                </c:pt>
                <c:pt idx="7">
                  <c:v>30703</c:v>
                </c:pt>
                <c:pt idx="8">
                  <c:v>30685</c:v>
                </c:pt>
                <c:pt idx="9">
                  <c:v>29080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1D0-41C0-AEC5-83A4B123273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0CAF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5D3-4035-A7C7-5C9B523F6F03}"/>
              </c:ext>
            </c:extLst>
          </c:dPt>
          <c:dPt>
            <c:idx val="1"/>
            <c:bubble3D val="0"/>
            <c:spPr>
              <a:solidFill>
                <a:srgbClr val="42A5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5D3-4035-A7C7-5C9B523F6F03}"/>
              </c:ext>
            </c:extLst>
          </c:dPt>
          <c:dPt>
            <c:idx val="2"/>
            <c:bubble3D val="0"/>
            <c:spPr>
              <a:solidFill>
                <a:srgbClr val="1976D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5D3-4035-A7C7-5C9B523F6F03}"/>
              </c:ext>
            </c:extLst>
          </c:dPt>
          <c:dPt>
            <c:idx val="3"/>
            <c:bubble3D val="0"/>
            <c:spPr>
              <a:solidFill>
                <a:srgbClr val="0D47A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5D3-4035-A7C7-5C9B523F6F03}"/>
              </c:ext>
            </c:extLst>
          </c:dPt>
          <c:dPt>
            <c:idx val="4"/>
            <c:bubble3D val="0"/>
            <c:spPr>
              <a:solidFill>
                <a:srgbClr val="1A23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5D3-4035-A7C7-5C9B523F6F0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5D3-4035-A7C7-5C9B523F6F0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5D3-4035-A7C7-5C9B523F6F0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5D3-4035-A7C7-5C9B523F6F03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5D3-4035-A7C7-5C9B523F6F03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5D3-4035-A7C7-5C9B523F6F0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Budget (&lt;$15k)</c:v>
                </c:pt>
                <c:pt idx="1">
                  <c:v>Mid ($15-30k)</c:v>
                </c:pt>
                <c:pt idx="2">
                  <c:v>Premium ($30-60k)</c:v>
                </c:pt>
                <c:pt idx="3">
                  <c:v>Luxury ($60-100k)</c:v>
                </c:pt>
                <c:pt idx="4">
                  <c:v>Ultra ($100k+)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13034</c:v>
                </c:pt>
                <c:pt idx="1">
                  <c:v>16870</c:v>
                </c:pt>
                <c:pt idx="2">
                  <c:v>16453</c:v>
                </c:pt>
                <c:pt idx="3">
                  <c:v>5700</c:v>
                </c:pt>
                <c:pt idx="4">
                  <c:v>2216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5D3-4035-A7C7-5C9B523F6F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46E7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5F8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 ($)</c:v>
                </c:pt>
              </c:strCache>
            </c:strRef>
          </c:tx>
          <c:spPr>
            <a:ln w="38100" cap="flat">
              <a:solidFill>
                <a:srgbClr val="1565C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565C0"/>
              </a:solidFill>
              <a:ln w="9525" cap="flat">
                <a:solidFill>
                  <a:srgbClr val="1565C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F2B5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  <c:pt idx="4">
                  <c:v>2018</c:v>
                </c:pt>
                <c:pt idx="5">
                  <c:v>2019</c:v>
                </c:pt>
                <c:pt idx="6">
                  <c:v>2020</c:v>
                </c:pt>
                <c:pt idx="7">
                  <c:v>2021</c:v>
                </c:pt>
                <c:pt idx="8">
                  <c:v>2022</c:v>
                </c:pt>
                <c:pt idx="9">
                  <c:v>2023</c:v>
                </c:pt>
                <c:pt idx="10">
                  <c:v>2024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24304</c:v>
                </c:pt>
                <c:pt idx="1">
                  <c:v>31084</c:v>
                </c:pt>
                <c:pt idx="2">
                  <c:v>33419</c:v>
                </c:pt>
                <c:pt idx="3">
                  <c:v>39763</c:v>
                </c:pt>
                <c:pt idx="4">
                  <c:v>44580</c:v>
                </c:pt>
                <c:pt idx="5">
                  <c:v>47121</c:v>
                </c:pt>
                <c:pt idx="6">
                  <c:v>58212</c:v>
                </c:pt>
                <c:pt idx="7">
                  <c:v>63252</c:v>
                </c:pt>
                <c:pt idx="8">
                  <c:v>69826</c:v>
                </c:pt>
                <c:pt idx="9">
                  <c:v>92260</c:v>
                </c:pt>
                <c:pt idx="10">
                  <c:v>95052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8BD-41FF-9BDA-DAB7158DBA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573-48E8-89F8-1FFB31206618}"/>
              </c:ext>
            </c:extLst>
          </c:dPt>
          <c:dPt>
            <c:idx val="1"/>
            <c:bubble3D val="0"/>
            <c:spPr>
              <a:solidFill>
                <a:srgbClr val="42A5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573-48E8-89F8-1FFB31206618}"/>
              </c:ext>
            </c:extLst>
          </c:dPt>
          <c:dPt>
            <c:idx val="2"/>
            <c:bubble3D val="0"/>
            <c:spPr>
              <a:solidFill>
                <a:srgbClr val="90CAF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573-48E8-89F8-1FFB31206618}"/>
              </c:ext>
            </c:extLst>
          </c:dPt>
          <c:dPt>
            <c:idx val="3"/>
            <c:bubble3D val="0"/>
            <c:spPr>
              <a:solidFill>
                <a:srgbClr val="0D47A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573-48E8-89F8-1FFB31206618}"/>
              </c:ext>
            </c:extLst>
          </c:dPt>
          <c:dPt>
            <c:idx val="4"/>
            <c:bubble3D val="0"/>
            <c:spPr>
              <a:solidFill>
                <a:srgbClr val="BBDEF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573-48E8-89F8-1FFB3120661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573-48E8-89F8-1FFB3120661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573-48E8-89F8-1FFB3120661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573-48E8-89F8-1FFB31206618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573-48E8-89F8-1FFB31206618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573-48E8-89F8-1FFB3120661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Gasoline</c:v>
                </c:pt>
                <c:pt idx="1">
                  <c:v>Hybrid</c:v>
                </c:pt>
                <c:pt idx="2">
                  <c:v>E85 Flex</c:v>
                </c:pt>
                <c:pt idx="3">
                  <c:v>Diesel</c:v>
                </c:pt>
                <c:pt idx="4">
                  <c:v>Plug-In Hybrid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49439</c:v>
                </c:pt>
                <c:pt idx="1">
                  <c:v>1766</c:v>
                </c:pt>
                <c:pt idx="2">
                  <c:v>1479</c:v>
                </c:pt>
                <c:pt idx="3">
                  <c:v>1109</c:v>
                </c:pt>
                <c:pt idx="4">
                  <c:v>182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573-48E8-89F8-1FFB312066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46E7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5F8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 ($)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B63-427D-9404-F383374A5137}"/>
              </c:ext>
            </c:extLst>
          </c:dPt>
          <c:dPt>
            <c:idx val="1"/>
            <c:invertIfNegative val="0"/>
            <c:bubble3D val="0"/>
            <c:spPr>
              <a:solidFill>
                <a:srgbClr val="42A5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B63-427D-9404-F383374A5137}"/>
              </c:ext>
            </c:extLst>
          </c:dPt>
          <c:dPt>
            <c:idx val="2"/>
            <c:invertIfNegative val="0"/>
            <c:bubble3D val="0"/>
            <c:spPr>
              <a:solidFill>
                <a:srgbClr val="90CAF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B63-427D-9404-F383374A5137}"/>
              </c:ext>
            </c:extLst>
          </c:dPt>
          <c:dPt>
            <c:idx val="3"/>
            <c:invertIfNegative val="0"/>
            <c:bubble3D val="0"/>
            <c:spPr>
              <a:solidFill>
                <a:srgbClr val="BBDEF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B63-427D-9404-F383374A5137}"/>
              </c:ext>
            </c:extLst>
          </c:dPt>
          <c:dPt>
            <c:idx val="4"/>
            <c:invertIfNegative val="0"/>
            <c:bubble3D val="0"/>
            <c:spPr>
              <a:solidFill>
                <a:srgbClr val="E3F2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B63-427D-9404-F383374A513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121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Diesel</c:v>
                </c:pt>
                <c:pt idx="1">
                  <c:v>Hybrid</c:v>
                </c:pt>
                <c:pt idx="2">
                  <c:v>Plug-In Hybrid</c:v>
                </c:pt>
                <c:pt idx="3">
                  <c:v>Gasoline</c:v>
                </c:pt>
                <c:pt idx="4">
                  <c:v>E85 Flex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52801</c:v>
                </c:pt>
                <c:pt idx="1">
                  <c:v>51728</c:v>
                </c:pt>
                <c:pt idx="2">
                  <c:v>43514</c:v>
                </c:pt>
                <c:pt idx="3">
                  <c:v>38940</c:v>
                </c:pt>
                <c:pt idx="4">
                  <c:v>24788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B63-427D-9404-F383374A51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 ($)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448-4AA3-9C55-C2D146A726D2}"/>
              </c:ext>
            </c:extLst>
          </c:dPt>
          <c:dPt>
            <c:idx val="1"/>
            <c:invertIfNegative val="0"/>
            <c:bubble3D val="0"/>
            <c:spPr>
              <a:solidFill>
                <a:srgbClr val="90CAF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448-4AA3-9C55-C2D146A726D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2B5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Automatic</c:v>
                </c:pt>
                <c:pt idx="1">
                  <c:v>Manual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38838</c:v>
                </c:pt>
                <c:pt idx="1">
                  <c:v>32839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448-4AA3-9C55-C2D146A726D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Mileage</c:v>
                </c:pt>
              </c:strCache>
            </c:strRef>
          </c:tx>
          <c:spPr>
            <a:solidFill>
              <a:srgbClr val="0D47A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AF8-4571-88F9-6E887F445D0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AF8-4571-88F9-6E887F445D07}"/>
              </c:ext>
            </c:extLst>
          </c:dPt>
          <c:dPt>
            <c:idx val="2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AF8-4571-88F9-6E887F445D07}"/>
              </c:ext>
            </c:extLst>
          </c:dPt>
          <c:dPt>
            <c:idx val="3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AF8-4571-88F9-6E887F445D07}"/>
              </c:ext>
            </c:extLst>
          </c:dPt>
          <c:dPt>
            <c:idx val="4"/>
            <c:invertIfNegative val="0"/>
            <c:bubble3D val="0"/>
            <c:spPr>
              <a:solidFill>
                <a:srgbClr val="1976D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AF8-4571-88F9-6E887F445D07}"/>
              </c:ext>
            </c:extLst>
          </c:dPt>
          <c:dPt>
            <c:idx val="5"/>
            <c:invertIfNegative val="0"/>
            <c:bubble3D val="0"/>
            <c:spPr>
              <a:solidFill>
                <a:srgbClr val="1976D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AF8-4571-88F9-6E887F445D07}"/>
              </c:ext>
            </c:extLst>
          </c:dPt>
          <c:dPt>
            <c:idx val="6"/>
            <c:invertIfNegative val="0"/>
            <c:bubble3D val="0"/>
            <c:spPr>
              <a:solidFill>
                <a:srgbClr val="42A5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0AF8-4571-88F9-6E887F445D07}"/>
              </c:ext>
            </c:extLst>
          </c:dPt>
          <c:dPt>
            <c:idx val="7"/>
            <c:invertIfNegative val="0"/>
            <c:bubble3D val="0"/>
            <c:spPr>
              <a:solidFill>
                <a:srgbClr val="42A5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0AF8-4571-88F9-6E887F445D07}"/>
              </c:ext>
            </c:extLst>
          </c:dPt>
          <c:dPt>
            <c:idx val="8"/>
            <c:invertIfNegative val="0"/>
            <c:bubble3D val="0"/>
            <c:spPr>
              <a:solidFill>
                <a:srgbClr val="90CAF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0AF8-4571-88F9-6E887F445D07}"/>
              </c:ext>
            </c:extLst>
          </c:dPt>
          <c:dPt>
            <c:idx val="9"/>
            <c:invertIfNegative val="0"/>
            <c:bubble3D val="0"/>
            <c:spPr>
              <a:solidFill>
                <a:srgbClr val="90CAF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0AF8-4571-88F9-6E887F445D0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121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Porsche</c:v>
                </c:pt>
                <c:pt idx="1">
                  <c:v>Land Rover</c:v>
                </c:pt>
                <c:pt idx="2">
                  <c:v>Mercedes</c:v>
                </c:pt>
                <c:pt idx="3">
                  <c:v>BMW</c:v>
                </c:pt>
                <c:pt idx="4">
                  <c:v>Audi</c:v>
                </c:pt>
                <c:pt idx="5">
                  <c:v>Chevrolet</c:v>
                </c:pt>
                <c:pt idx="6">
                  <c:v>Ford</c:v>
                </c:pt>
                <c:pt idx="7">
                  <c:v>Jeep</c:v>
                </c:pt>
                <c:pt idx="8">
                  <c:v>Lexus</c:v>
                </c:pt>
                <c:pt idx="9">
                  <c:v>Toyota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49772</c:v>
                </c:pt>
                <c:pt idx="1">
                  <c:v>60342</c:v>
                </c:pt>
                <c:pt idx="2">
                  <c:v>60521</c:v>
                </c:pt>
                <c:pt idx="3">
                  <c:v>62640</c:v>
                </c:pt>
                <c:pt idx="4">
                  <c:v>67628</c:v>
                </c:pt>
                <c:pt idx="5">
                  <c:v>69916</c:v>
                </c:pt>
                <c:pt idx="6">
                  <c:v>74811</c:v>
                </c:pt>
                <c:pt idx="7">
                  <c:v>79904</c:v>
                </c:pt>
                <c:pt idx="8">
                  <c:v>88576</c:v>
                </c:pt>
                <c:pt idx="9">
                  <c:v>99456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0AF8-4571-88F9-6E887F445D0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6299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B5B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565C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196F3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45920"/>
            <a:ext cx="1097280" cy="54864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858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Car Market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400" dirty="0">
              <a:solidFill>
                <a:srgbClr val="BBDEF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24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Report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insights from 54,273 vehicle listings across brands, pricing, fuel types, and market segments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023360"/>
            <a:ext cx="4572000" cy="658368"/>
          </a:xfrm>
          <a:prstGeom prst="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08736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Seif El-Din Taher Abdelrahman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40740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Market Intelligence | 2024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0" y="3977640"/>
            <a:ext cx="1920240" cy="777240"/>
          </a:xfrm>
          <a:prstGeom prst="rect">
            <a:avLst/>
          </a:prstGeom>
          <a:solidFill>
            <a:srgbClr val="FFD54F">
              <a:alpha val="90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76288" y="400507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54,273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876288" y="438912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F2B5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16459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" y="2468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05840" y="2286000"/>
            <a:ext cx="914400" cy="45720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6" name="Shape 4"/>
          <p:cNvSpPr/>
          <p:nvPr/>
        </p:nvSpPr>
        <p:spPr>
          <a:xfrm>
            <a:off x="3108960" y="320040"/>
            <a:ext cx="5760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46120" y="411480"/>
            <a:ext cx="384048" cy="38404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3246120" y="411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30752" y="3749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30752" y="6126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Size, scope &amp; data quality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08960" y="987552"/>
            <a:ext cx="5760720" cy="566928"/>
          </a:xfrm>
          <a:prstGeom prst="rect">
            <a:avLst/>
          </a:prstGeom>
          <a:solidFill>
            <a:srgbClr val="EEF4FF"/>
          </a:solidFill>
          <a:ln w="6350">
            <a:solidFill>
              <a:srgbClr val="E0E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078992"/>
            <a:ext cx="384048" cy="38404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1078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30752" y="104241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Market Share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30752" y="12801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brands by inventory volume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08960" y="1655064"/>
            <a:ext cx="5760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746504"/>
            <a:ext cx="384048" cy="38404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3246120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30752" y="17099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Analysis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30752" y="194767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segments &amp; average prices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08960" y="2322576"/>
            <a:ext cx="5760720" cy="566928"/>
          </a:xfrm>
          <a:prstGeom prst="rect">
            <a:avLst/>
          </a:prstGeom>
          <a:solidFill>
            <a:srgbClr val="EEF4FF"/>
          </a:solidFill>
          <a:ln w="6350">
            <a:solidFill>
              <a:srgbClr val="E0E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414016"/>
            <a:ext cx="384048" cy="38404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3" name="Text 21"/>
          <p:cNvSpPr/>
          <p:nvPr/>
        </p:nvSpPr>
        <p:spPr>
          <a:xfrm>
            <a:off x="324612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30752" y="23774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Trends by Year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730752" y="261518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model year affects value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08960" y="2990088"/>
            <a:ext cx="5760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3081528"/>
            <a:ext cx="384048" cy="38404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8" name="Text 26"/>
          <p:cNvSpPr/>
          <p:nvPr/>
        </p:nvSpPr>
        <p:spPr>
          <a:xfrm>
            <a:off x="3246120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730752" y="30449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Type Insights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730752" y="32826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&amp; pricing by fuel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108960" y="3657600"/>
            <a:ext cx="5760720" cy="566928"/>
          </a:xfrm>
          <a:prstGeom prst="rect">
            <a:avLst/>
          </a:prstGeom>
          <a:solidFill>
            <a:srgbClr val="EEF4FF"/>
          </a:solidFill>
          <a:ln w="6350">
            <a:solidFill>
              <a:srgbClr val="E0E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46120" y="3749040"/>
            <a:ext cx="384048" cy="38404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3" name="Text 31"/>
          <p:cNvSpPr/>
          <p:nvPr/>
        </p:nvSpPr>
        <p:spPr>
          <a:xfrm>
            <a:off x="324612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730752" y="37124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Mileage &amp; Transmission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730752" y="395020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market pricing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108960" y="4325112"/>
            <a:ext cx="57607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46120" y="4416552"/>
            <a:ext cx="384048" cy="38404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8" name="Text 36"/>
          <p:cNvSpPr/>
          <p:nvPr/>
        </p:nvSpPr>
        <p:spPr>
          <a:xfrm>
            <a:off x="3246120" y="4416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730752" y="43799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730752" y="46177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business conclusions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B5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Dataset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54864" cy="1600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97280"/>
            <a:ext cx="25603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54,273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792224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Listings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20827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vehicle records analyzed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60120"/>
            <a:ext cx="54864" cy="1600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097280"/>
            <a:ext cx="25603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$39,218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37560" y="1792224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Listing Price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220827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Median: $28,000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960120"/>
            <a:ext cx="54864" cy="1600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097280"/>
            <a:ext cx="25603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Years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263640" y="1792224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Year Span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220827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1974 to 2024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88036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80360"/>
            <a:ext cx="54864" cy="1600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017520"/>
            <a:ext cx="25603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11480" y="3712464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Brands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412851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BMW, Ford, Mercedes lead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0" y="288036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880360"/>
            <a:ext cx="54864" cy="1600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3017520"/>
            <a:ext cx="25603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Fuel Types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337560" y="3712464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Diversity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37560" y="412851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Gasoline dominates at 91%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26480" y="288036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880360"/>
            <a:ext cx="54864" cy="1600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3017520"/>
            <a:ext cx="25603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~88%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263640" y="3712464"/>
            <a:ext cx="25603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Transmission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63640" y="412851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transmission type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BBDEFB"/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" y="469087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Insight: The dataset spans five decades of vehicles, giving a broad picture of the used car market across luxury, mainstream, and budget segments.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B5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Brand Market Share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68680"/>
          <a:ext cx="594360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868680"/>
            <a:ext cx="237744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92240" y="868680"/>
            <a:ext cx="237744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4"/>
          <p:cNvSpPr/>
          <p:nvPr/>
        </p:nvSpPr>
        <p:spPr>
          <a:xfrm>
            <a:off x="6537960" y="868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583680" y="1481328"/>
            <a:ext cx="164592" cy="164592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9" name="Text 6"/>
          <p:cNvSpPr/>
          <p:nvPr/>
        </p:nvSpPr>
        <p:spPr>
          <a:xfrm>
            <a:off x="6812280" y="14447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leads with 13.6% of all listings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583680" y="2084832"/>
            <a:ext cx="164592" cy="164592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1" name="Text 8"/>
          <p:cNvSpPr/>
          <p:nvPr/>
        </p:nvSpPr>
        <p:spPr>
          <a:xfrm>
            <a:off x="6812280" y="204825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is #2 with 12.4% share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583680" y="2688336"/>
            <a:ext cx="164592" cy="164592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3" name="Text 10"/>
          <p:cNvSpPr/>
          <p:nvPr/>
        </p:nvSpPr>
        <p:spPr>
          <a:xfrm>
            <a:off x="6812280" y="2651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brands = 35% of total inventory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583680" y="3291840"/>
            <a:ext cx="164592" cy="164592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5" name="Text 12"/>
          <p:cNvSpPr/>
          <p:nvPr/>
        </p:nvSpPr>
        <p:spPr>
          <a:xfrm>
            <a:off x="6812280" y="325526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brands dominate the top 5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583680" y="3895344"/>
            <a:ext cx="164592" cy="164592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7" name="Text 14"/>
          <p:cNvSpPr/>
          <p:nvPr/>
        </p:nvSpPr>
        <p:spPr>
          <a:xfrm>
            <a:off x="6812280" y="38587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Toyota &amp; Lexus show high resale demand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B5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Pricing Analysis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68680"/>
          <a:ext cx="539496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852160" y="8961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Segments</a:t>
            </a:r>
            <a:endParaRPr lang="en-US" sz="1300" dirty="0"/>
          </a:p>
        </p:txBody>
      </p:sp>
      <p:graphicFrame>
        <p:nvGraphicFramePr>
          <p:cNvPr id="6" name="Chart 1"/>
          <p:cNvGraphicFramePr/>
          <p:nvPr/>
        </p:nvGraphicFramePr>
        <p:xfrm>
          <a:off x="5806440" y="1234440"/>
          <a:ext cx="30175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5806440" y="3913632"/>
            <a:ext cx="3017520" cy="914400"/>
          </a:xfrm>
          <a:prstGeom prst="rect">
            <a:avLst/>
          </a:prstGeom>
          <a:solidFill>
            <a:srgbClr val="0F2B5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943600" y="39319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$39,218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price
</a:t>
            </a:r>
            <a:r>
              <a:rPr lang="en-US" sz="9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$28K — market skews toward</a:t>
            </a:r>
            <a:endParaRPr lang="en-US" sz="160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&amp; premium used car segments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B5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Price Trends by Model Year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68680"/>
          <a:ext cx="62179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434840"/>
            <a:ext cx="2743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4434840"/>
            <a:ext cx="54864" cy="5943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4572000"/>
            <a:ext cx="25603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3.9×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11480" y="4743907"/>
            <a:ext cx="2560320" cy="166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Increase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" y="4898441"/>
            <a:ext cx="2560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 to 2024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00400" y="4434840"/>
            <a:ext cx="2743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4434840"/>
            <a:ext cx="54864" cy="5943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572000"/>
            <a:ext cx="25603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+$5K/yr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3337560" y="4743907"/>
            <a:ext cx="2560320" cy="166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Annual Rise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337560" y="4898441"/>
            <a:ext cx="2560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5 years avg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126480" y="4434840"/>
            <a:ext cx="2743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26480" y="4434840"/>
            <a:ext cx="54864" cy="5943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7" name="Text 14"/>
          <p:cNvSpPr/>
          <p:nvPr/>
        </p:nvSpPr>
        <p:spPr>
          <a:xfrm>
            <a:off x="6263640" y="4572000"/>
            <a:ext cx="25603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2020+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263640" y="4743907"/>
            <a:ext cx="2560320" cy="166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Sharpest Surge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263640" y="4898441"/>
            <a:ext cx="2560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Post-pandemic jump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720840" y="868680"/>
            <a:ext cx="2148840" cy="3474720"/>
          </a:xfrm>
          <a:prstGeom prst="rect">
            <a:avLst/>
          </a:prstGeom>
          <a:solidFill>
            <a:srgbClr val="0F2B5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766560" y="9601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949440" y="1298448"/>
            <a:ext cx="1645920" cy="3657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3" name="Shape 20"/>
          <p:cNvSpPr/>
          <p:nvPr/>
        </p:nvSpPr>
        <p:spPr>
          <a:xfrm>
            <a:off x="6766560" y="1417320"/>
            <a:ext cx="45720" cy="320040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24" name="Text 21"/>
          <p:cNvSpPr/>
          <p:nvPr/>
        </p:nvSpPr>
        <p:spPr>
          <a:xfrm>
            <a:off x="6876288" y="14173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cars command significantly higher prices, reflecting depreciation curves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766560" y="1920240"/>
            <a:ext cx="45720" cy="320040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26" name="Text 23"/>
          <p:cNvSpPr/>
          <p:nvPr/>
        </p:nvSpPr>
        <p:spPr>
          <a:xfrm>
            <a:off x="6876288" y="19202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2020–2022 surge driven by chip shortages and pandemic supply constraints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766560" y="2423160"/>
            <a:ext cx="45720" cy="320040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28" name="Text 25"/>
          <p:cNvSpPr/>
          <p:nvPr/>
        </p:nvSpPr>
        <p:spPr>
          <a:xfrm>
            <a:off x="6876288" y="24231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2023–2024 listings near $95K avg — likely luxury/premium segment bias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766560" y="2926080"/>
            <a:ext cx="45720" cy="320040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30" name="Text 27"/>
          <p:cNvSpPr/>
          <p:nvPr/>
        </p:nvSpPr>
        <p:spPr>
          <a:xfrm>
            <a:off x="6876288" y="29260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should target 2018–2021 inventory for best volume-price balance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B5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Fuel Type Insights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Type Distribution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18872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8686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 by Fuel Type</a:t>
            </a:r>
            <a:endParaRPr lang="en-US" sz="13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4572000" y="1188720"/>
          <a:ext cx="42519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572000"/>
            <a:ext cx="8595360" cy="457200"/>
          </a:xfrm>
          <a:prstGeom prst="rect">
            <a:avLst/>
          </a:prstGeom>
          <a:solidFill>
            <a:srgbClr val="0F2B5B"/>
          </a:solidFill>
          <a:ln/>
        </p:spPr>
      </p:sp>
      <p:sp>
        <p:nvSpPr>
          <p:cNvPr id="9" name="Text 5"/>
          <p:cNvSpPr/>
          <p:nvPr/>
        </p:nvSpPr>
        <p:spPr>
          <a:xfrm>
            <a:off x="457200" y="459943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Insight: Diesel &amp; Hybrid vehicles command 35–40% price premiums over gasoline — targeting alternative-fuel inventory can boost revenue per unit significantly.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B5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Mileage &amp; Transmission Impact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 by Transmission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188720"/>
          <a:ext cx="4114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86868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Mileage by Brand (miles)</a:t>
            </a:r>
            <a:endParaRPr lang="en-US" sz="13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4572000" y="1188720"/>
          <a:ext cx="429768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361188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274320" y="3611880"/>
            <a:ext cx="54864" cy="14173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6"/>
          <p:cNvSpPr/>
          <p:nvPr/>
        </p:nvSpPr>
        <p:spPr>
          <a:xfrm>
            <a:off x="411480" y="3749040"/>
            <a:ext cx="18288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72,746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411480" y="4348886"/>
            <a:ext cx="182880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Mileage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11480" y="4717390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listings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468880" y="361188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468880" y="3611880"/>
            <a:ext cx="54864" cy="14173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1"/>
          <p:cNvSpPr/>
          <p:nvPr/>
        </p:nvSpPr>
        <p:spPr>
          <a:xfrm>
            <a:off x="2606040" y="3749040"/>
            <a:ext cx="18288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-0.25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2606040" y="4348886"/>
            <a:ext cx="182880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606040" y="4717390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Mileage vs Price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663440" y="361188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63440" y="3611880"/>
            <a:ext cx="54864" cy="14173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0" name="Text 16"/>
          <p:cNvSpPr/>
          <p:nvPr/>
        </p:nvSpPr>
        <p:spPr>
          <a:xfrm>
            <a:off x="4800600" y="3749040"/>
            <a:ext cx="18288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2600" dirty="0"/>
          </a:p>
        </p:txBody>
      </p:sp>
      <p:sp>
        <p:nvSpPr>
          <p:cNvPr id="21" name="Text 17"/>
          <p:cNvSpPr/>
          <p:nvPr/>
        </p:nvSpPr>
        <p:spPr>
          <a:xfrm>
            <a:off x="4800600" y="4348886"/>
            <a:ext cx="182880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Premium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800600" y="4717390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vs Manual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6858000" y="361188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858000" y="3611880"/>
            <a:ext cx="54864" cy="14173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5" name="Text 21"/>
          <p:cNvSpPr/>
          <p:nvPr/>
        </p:nvSpPr>
        <p:spPr>
          <a:xfrm>
            <a:off x="6995160" y="3749040"/>
            <a:ext cx="18288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+0.26</a:t>
            </a:r>
            <a:endParaRPr lang="en-US" sz="2600" dirty="0"/>
          </a:p>
        </p:txBody>
      </p:sp>
      <p:sp>
        <p:nvSpPr>
          <p:cNvPr id="26" name="Text 22"/>
          <p:cNvSpPr/>
          <p:nvPr/>
        </p:nvSpPr>
        <p:spPr>
          <a:xfrm>
            <a:off x="6995160" y="4348886"/>
            <a:ext cx="1828800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995160" y="4717390"/>
            <a:ext cx="1828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Horsepower vs Price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B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565C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371600" cy="45720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420624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54864" cy="1170432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Brand Dominance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30759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BMW, Ford &amp; Mercedes control ~35% of the used market — stocking these brands maximizes buyer reach and turnover speed.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20624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60120"/>
            <a:ext cx="54864" cy="1170432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Price Segmentation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30759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 of listings fall in the $15K–$60K sweet spot. Focusing here captures the widest active buyer pool.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420624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286000"/>
            <a:ext cx="54864" cy="1170432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Recency = Value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263347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model years command up to 4× higher prices. Prioritizing 2020+ vehicles boosts per-unit revenue.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2286000"/>
            <a:ext cx="420624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286000"/>
            <a:ext cx="54864" cy="1170432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⛽ Fuel Premium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63347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and Hybrid vehicles sell 35–40% above gasoline average — a clear opportunity for margin expansion.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611880"/>
            <a:ext cx="420624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611880"/>
            <a:ext cx="54864" cy="1170432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703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Transmission Signal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95935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vehicles price 18% higher than manual on average, signaling stronger buyer preference and willingness to pay.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611880"/>
            <a:ext cx="420624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611880"/>
            <a:ext cx="54864" cy="1170432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703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Mileage Impact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395935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mileage negatively correlates with price (r=-0.25). Low-mileage sourcing is a key competitive advantage.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B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565C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2196F3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331720"/>
            <a:ext cx="1280160" cy="54864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772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02920" y="1572768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502920" y="2542032"/>
            <a:ext cx="530352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69748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Seif El-Din Taher Abdelrahman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31089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Market Intelligence  |  Data Analytics Report  |  2024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1565C0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343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54,273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Analyzed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651760" y="4343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$39,218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651760" y="47091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Market Price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0" y="4343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46320" y="47091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Covered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040880" y="4343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040880" y="47091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608</Words>
  <Application>Microsoft Office PowerPoint</Application>
  <PresentationFormat>On-screen Show (16:9)</PresentationFormat>
  <Paragraphs>141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Used Car Market Analysis</dc:title>
  <dc:subject>PptxGenJS Presentation</dc:subject>
  <dc:creator>Seif El-Din Taher Abdelrahman</dc:creator>
  <cp:lastModifiedBy>seif taher</cp:lastModifiedBy>
  <cp:revision>2</cp:revision>
  <dcterms:created xsi:type="dcterms:W3CDTF">2026-06-06T17:52:06Z</dcterms:created>
  <dcterms:modified xsi:type="dcterms:W3CDTF">2026-06-06T17:56:19Z</dcterms:modified>
</cp:coreProperties>
</file>